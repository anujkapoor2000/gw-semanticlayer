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7498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NTT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24128" y="91440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" y="548640"/>
            <a:ext cx="1572768" cy="64008"/>
          </a:xfrm>
          <a:prstGeom prst="rect">
            <a:avLst/>
          </a:prstGeom>
          <a:solidFill>
            <a:srgbClr val="E4002B"/>
          </a:solidFill>
          <a:ln w="12700">
            <a:solidFill>
              <a:srgbClr val="E400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0" y="91440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LANDSCAPE -- Semantic Platform Options by Architecture Layer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56032" y="822960"/>
            <a:ext cx="8631936" cy="27432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822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NTT DATA RECOMMENDED STACK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46120" y="822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 Store: 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566160" y="822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PoolParty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224528" y="822960"/>
            <a:ext cx="9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233672" y="822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POV: 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553712" y="822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Stardog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212080" y="822960"/>
            <a:ext cx="9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221224" y="822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Op. Graph: 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541264" y="822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199632" y="822960"/>
            <a:ext cx="9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208776" y="822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Engine: 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528816" y="822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+ LlamaIndex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187184" y="822960"/>
            <a:ext cx="9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196328" y="822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7516368" y="822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ACORD Model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174736" y="822960"/>
            <a:ext cx="9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183880" y="822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Ingestion: 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8503920" y="822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 Studio + Jena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56032" y="1170432"/>
            <a:ext cx="1097280" cy="6583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6032" y="117043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56032" y="1517904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DDL, APD XML, Gosu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1426464" y="1207008"/>
            <a:ext cx="171907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490472" y="1216152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 Studio Export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490472" y="1417320"/>
            <a:ext cx="2926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5/5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1490472" y="1572768"/>
            <a:ext cx="15910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A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3200400" y="1207008"/>
            <a:ext cx="171907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264408" y="1216152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Erwin Data Modeler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264408" y="1417320"/>
            <a:ext cx="2926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4/5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3264408" y="1572768"/>
            <a:ext cx="15910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A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4974336" y="1207008"/>
            <a:ext cx="171907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038344" y="1216152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Jena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038344" y="1417320"/>
            <a:ext cx="2926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5358384" y="1417320"/>
            <a:ext cx="2926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3/5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5038344" y="1572768"/>
            <a:ext cx="15910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A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6748272" y="1207008"/>
            <a:ext cx="171907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812280" y="1216152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812280" y="1417320"/>
            <a:ext cx="2926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7132320" y="1417320"/>
            <a:ext cx="2926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3/5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6812280" y="1572768"/>
            <a:ext cx="15910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A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Stanford/OSS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256032" y="1938528"/>
            <a:ext cx="1097280" cy="658368"/>
          </a:xfrm>
          <a:prstGeom prst="rect">
            <a:avLst/>
          </a:prstGeom>
          <a:solidFill>
            <a:srgbClr val="6554C0"/>
          </a:solidFill>
          <a:ln w="12700">
            <a:solidFill>
              <a:srgbClr val="6554C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56032" y="193852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256032" y="2286000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 the semantic graph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1426464" y="1975104"/>
            <a:ext cx="1719072" cy="585216"/>
          </a:xfrm>
          <a:prstGeom prst="rect">
            <a:avLst/>
          </a:prstGeom>
          <a:solidFill>
            <a:srgbClr val="F5F7FA"/>
          </a:solidFill>
          <a:ln w="12700">
            <a:solidFill>
              <a:srgbClr val="6554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1490472" y="1984248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PoolParty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490472" y="2185416"/>
            <a:ext cx="2926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55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1810512" y="2185416"/>
            <a:ext cx="2926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5/5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1490472" y="2340864"/>
            <a:ext cx="15910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A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Altair/SWC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3200400" y="1975104"/>
            <a:ext cx="171907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3264408" y="1984248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GraphDB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3264408" y="2185416"/>
            <a:ext cx="2926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5/5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3264408" y="2340864"/>
            <a:ext cx="15910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A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Ontotext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4974336" y="1975104"/>
            <a:ext cx="1719072" cy="585216"/>
          </a:xfrm>
          <a:prstGeom prst="rect">
            <a:avLst/>
          </a:prstGeom>
          <a:solidFill>
            <a:srgbClr val="F5F7FA"/>
          </a:solidFill>
          <a:ln w="12700">
            <a:solidFill>
              <a:srgbClr val="6554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5038344" y="1984248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Stardog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038344" y="2185416"/>
            <a:ext cx="2926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55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</a:t>
            </a:r>
            <a:endParaRPr lang="en-US" sz="650" dirty="0"/>
          </a:p>
        </p:txBody>
      </p:sp>
      <p:sp>
        <p:nvSpPr>
          <p:cNvPr id="63" name="Text 61"/>
          <p:cNvSpPr/>
          <p:nvPr/>
        </p:nvSpPr>
        <p:spPr>
          <a:xfrm>
            <a:off x="5358384" y="2185416"/>
            <a:ext cx="2926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5/5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5038344" y="2340864"/>
            <a:ext cx="15910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A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Stardog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6748272" y="1975104"/>
            <a:ext cx="171907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6812280" y="1984248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Anzo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6812280" y="2185416"/>
            <a:ext cx="2926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4/5</a:t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6812280" y="2340864"/>
            <a:ext cx="15910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A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Altair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8522208" y="1975104"/>
            <a:ext cx="171907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8586216" y="1984248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TopBraid EDG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8586216" y="2185416"/>
            <a:ext cx="2926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4/5</a:t>
            </a:r>
            <a:endParaRPr lang="en-US" sz="650" dirty="0"/>
          </a:p>
        </p:txBody>
      </p:sp>
      <p:sp>
        <p:nvSpPr>
          <p:cNvPr id="72" name="Text 70"/>
          <p:cNvSpPr/>
          <p:nvPr/>
        </p:nvSpPr>
        <p:spPr>
          <a:xfrm>
            <a:off x="8586216" y="2340864"/>
            <a:ext cx="15910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A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Topquadrant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10296144" y="1975104"/>
            <a:ext cx="171907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4" name="Text 72"/>
          <p:cNvSpPr/>
          <p:nvPr/>
        </p:nvSpPr>
        <p:spPr>
          <a:xfrm>
            <a:off x="10360152" y="1984248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eccenca Corp Memory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10360152" y="2185416"/>
            <a:ext cx="2926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3/5</a:t>
            </a:r>
            <a:endParaRPr lang="en-US" sz="650" dirty="0"/>
          </a:p>
        </p:txBody>
      </p:sp>
      <p:sp>
        <p:nvSpPr>
          <p:cNvPr id="76" name="Text 74"/>
          <p:cNvSpPr/>
          <p:nvPr/>
        </p:nvSpPr>
        <p:spPr>
          <a:xfrm>
            <a:off x="10360152" y="2340864"/>
            <a:ext cx="15910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A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eccenca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256032" y="2852928"/>
            <a:ext cx="1097280" cy="65836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56032" y="285292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400" dirty="0"/>
          </a:p>
        </p:txBody>
      </p:sp>
      <p:sp>
        <p:nvSpPr>
          <p:cNvPr id="79" name="Text 77"/>
          <p:cNvSpPr/>
          <p:nvPr/>
        </p:nvSpPr>
        <p:spPr>
          <a:xfrm>
            <a:off x="256032" y="3200400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Extract, infer, analyse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1426464" y="2889504"/>
            <a:ext cx="1719072" cy="585216"/>
          </a:xfrm>
          <a:prstGeom prst="rect">
            <a:avLst/>
          </a:prstGeom>
          <a:solidFill>
            <a:srgbClr val="F5F7FA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1" name="Text 79"/>
          <p:cNvSpPr/>
          <p:nvPr/>
        </p:nvSpPr>
        <p:spPr>
          <a:xfrm>
            <a:off x="1490472" y="2898648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1490472" y="3099816"/>
            <a:ext cx="2926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</a:t>
            </a:r>
            <a:endParaRPr lang="en-US" sz="650" dirty="0"/>
          </a:p>
        </p:txBody>
      </p:sp>
      <p:sp>
        <p:nvSpPr>
          <p:cNvPr id="83" name="Text 81"/>
          <p:cNvSpPr/>
          <p:nvPr/>
        </p:nvSpPr>
        <p:spPr>
          <a:xfrm>
            <a:off x="1810512" y="3099816"/>
            <a:ext cx="2926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5/5</a:t>
            </a:r>
            <a:endParaRPr lang="en-US" sz="650" dirty="0"/>
          </a:p>
        </p:txBody>
      </p:sp>
      <p:sp>
        <p:nvSpPr>
          <p:cNvPr id="84" name="Text 82"/>
          <p:cNvSpPr/>
          <p:nvPr/>
        </p:nvSpPr>
        <p:spPr>
          <a:xfrm>
            <a:off x="1490472" y="3255264"/>
            <a:ext cx="15910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A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700" dirty="0"/>
          </a:p>
        </p:txBody>
      </p:sp>
      <p:sp>
        <p:nvSpPr>
          <p:cNvPr id="85" name="Shape 83"/>
          <p:cNvSpPr/>
          <p:nvPr/>
        </p:nvSpPr>
        <p:spPr>
          <a:xfrm>
            <a:off x="3200400" y="2889504"/>
            <a:ext cx="1719072" cy="585216"/>
          </a:xfrm>
          <a:prstGeom prst="rect">
            <a:avLst/>
          </a:prstGeom>
          <a:solidFill>
            <a:srgbClr val="F5F7FA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6" name="Text 84"/>
          <p:cNvSpPr/>
          <p:nvPr/>
        </p:nvSpPr>
        <p:spPr>
          <a:xfrm>
            <a:off x="3264408" y="2898648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LlamaIndex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3264408" y="3099816"/>
            <a:ext cx="2926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</a:t>
            </a:r>
            <a:endParaRPr lang="en-US" sz="650" dirty="0"/>
          </a:p>
        </p:txBody>
      </p:sp>
      <p:sp>
        <p:nvSpPr>
          <p:cNvPr id="88" name="Text 86"/>
          <p:cNvSpPr/>
          <p:nvPr/>
        </p:nvSpPr>
        <p:spPr>
          <a:xfrm>
            <a:off x="3584448" y="3099816"/>
            <a:ext cx="2926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</a:t>
            </a:r>
            <a:endParaRPr lang="en-US" sz="650" dirty="0"/>
          </a:p>
        </p:txBody>
      </p:sp>
      <p:sp>
        <p:nvSpPr>
          <p:cNvPr id="89" name="Text 87"/>
          <p:cNvSpPr/>
          <p:nvPr/>
        </p:nvSpPr>
        <p:spPr>
          <a:xfrm>
            <a:off x="3904488" y="3099816"/>
            <a:ext cx="2926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5/5</a:t>
            </a:r>
            <a:endParaRPr lang="en-US" sz="650" dirty="0"/>
          </a:p>
        </p:txBody>
      </p:sp>
      <p:sp>
        <p:nvSpPr>
          <p:cNvPr id="90" name="Text 88"/>
          <p:cNvSpPr/>
          <p:nvPr/>
        </p:nvSpPr>
        <p:spPr>
          <a:xfrm>
            <a:off x="3264408" y="3255264"/>
            <a:ext cx="15910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A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</a:t>
            </a:r>
            <a:endParaRPr lang="en-US" sz="700" dirty="0"/>
          </a:p>
        </p:txBody>
      </p:sp>
      <p:sp>
        <p:nvSpPr>
          <p:cNvPr id="91" name="Shape 89"/>
          <p:cNvSpPr/>
          <p:nvPr/>
        </p:nvSpPr>
        <p:spPr>
          <a:xfrm>
            <a:off x="4974336" y="2889504"/>
            <a:ext cx="171907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2" name="Text 90"/>
          <p:cNvSpPr/>
          <p:nvPr/>
        </p:nvSpPr>
        <p:spPr>
          <a:xfrm>
            <a:off x="5038344" y="2898648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GraphRAG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5038344" y="3099816"/>
            <a:ext cx="2926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</a:t>
            </a:r>
            <a:endParaRPr lang="en-US" sz="650" dirty="0"/>
          </a:p>
        </p:txBody>
      </p:sp>
      <p:sp>
        <p:nvSpPr>
          <p:cNvPr id="94" name="Text 92"/>
          <p:cNvSpPr/>
          <p:nvPr/>
        </p:nvSpPr>
        <p:spPr>
          <a:xfrm>
            <a:off x="5358384" y="3099816"/>
            <a:ext cx="2926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4/5</a:t>
            </a:r>
            <a:endParaRPr lang="en-US" sz="650" dirty="0"/>
          </a:p>
        </p:txBody>
      </p:sp>
      <p:sp>
        <p:nvSpPr>
          <p:cNvPr id="95" name="Text 93"/>
          <p:cNvSpPr/>
          <p:nvPr/>
        </p:nvSpPr>
        <p:spPr>
          <a:xfrm>
            <a:off x="5038344" y="3255264"/>
            <a:ext cx="15910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A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Microsoft/OSS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6748272" y="2889504"/>
            <a:ext cx="171907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7" name="Text 95"/>
          <p:cNvSpPr/>
          <p:nvPr/>
        </p:nvSpPr>
        <p:spPr>
          <a:xfrm>
            <a:off x="6812280" y="2898648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6812280" y="3099816"/>
            <a:ext cx="2926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</a:t>
            </a:r>
            <a:endParaRPr lang="en-US" sz="650" dirty="0"/>
          </a:p>
        </p:txBody>
      </p:sp>
      <p:sp>
        <p:nvSpPr>
          <p:cNvPr id="99" name="Text 97"/>
          <p:cNvSpPr/>
          <p:nvPr/>
        </p:nvSpPr>
        <p:spPr>
          <a:xfrm>
            <a:off x="7132320" y="3099816"/>
            <a:ext cx="2926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4/5</a:t>
            </a:r>
            <a:endParaRPr lang="en-US" sz="650" dirty="0"/>
          </a:p>
        </p:txBody>
      </p:sp>
      <p:sp>
        <p:nvSpPr>
          <p:cNvPr id="100" name="Text 98"/>
          <p:cNvSpPr/>
          <p:nvPr/>
        </p:nvSpPr>
        <p:spPr>
          <a:xfrm>
            <a:off x="6812280" y="3255264"/>
            <a:ext cx="15910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A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</a:t>
            </a:r>
            <a:endParaRPr lang="en-US" sz="700" dirty="0"/>
          </a:p>
        </p:txBody>
      </p:sp>
      <p:sp>
        <p:nvSpPr>
          <p:cNvPr id="101" name="Shape 99"/>
          <p:cNvSpPr/>
          <p:nvPr/>
        </p:nvSpPr>
        <p:spPr>
          <a:xfrm>
            <a:off x="8522208" y="2889504"/>
            <a:ext cx="171907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2" name="Text 100"/>
          <p:cNvSpPr/>
          <p:nvPr/>
        </p:nvSpPr>
        <p:spPr>
          <a:xfrm>
            <a:off x="8586216" y="2898648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Weaviate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8586216" y="3099816"/>
            <a:ext cx="2926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</a:t>
            </a:r>
            <a:endParaRPr lang="en-US" sz="650" dirty="0"/>
          </a:p>
        </p:txBody>
      </p:sp>
      <p:sp>
        <p:nvSpPr>
          <p:cNvPr id="104" name="Text 102"/>
          <p:cNvSpPr/>
          <p:nvPr/>
        </p:nvSpPr>
        <p:spPr>
          <a:xfrm>
            <a:off x="8906256" y="3099816"/>
            <a:ext cx="2926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3/5</a:t>
            </a:r>
            <a:endParaRPr lang="en-US" sz="650" dirty="0"/>
          </a:p>
        </p:txBody>
      </p:sp>
      <p:sp>
        <p:nvSpPr>
          <p:cNvPr id="105" name="Text 103"/>
          <p:cNvSpPr/>
          <p:nvPr/>
        </p:nvSpPr>
        <p:spPr>
          <a:xfrm>
            <a:off x="8586216" y="3255264"/>
            <a:ext cx="15910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A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</a:t>
            </a:r>
            <a:endParaRPr lang="en-US" sz="700" dirty="0"/>
          </a:p>
        </p:txBody>
      </p:sp>
      <p:sp>
        <p:nvSpPr>
          <p:cNvPr id="106" name="Shape 104"/>
          <p:cNvSpPr/>
          <p:nvPr/>
        </p:nvSpPr>
        <p:spPr>
          <a:xfrm>
            <a:off x="256032" y="3621024"/>
            <a:ext cx="1097280" cy="658368"/>
          </a:xfrm>
          <a:prstGeom prst="rect">
            <a:avLst/>
          </a:prstGeom>
          <a:solidFill>
            <a:srgbClr val="FF8B00"/>
          </a:solidFill>
          <a:ln w="12700">
            <a:solidFill>
              <a:srgbClr val="FF8B0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256032" y="3621024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400" dirty="0"/>
          </a:p>
        </p:txBody>
      </p:sp>
      <p:sp>
        <p:nvSpPr>
          <p:cNvPr id="108" name="Text 106"/>
          <p:cNvSpPr/>
          <p:nvPr/>
        </p:nvSpPr>
        <p:spPr>
          <a:xfrm>
            <a:off x="256032" y="3968496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to migration teams</a:t>
            </a:r>
            <a:endParaRPr lang="en-US" sz="700" dirty="0"/>
          </a:p>
        </p:txBody>
      </p:sp>
      <p:sp>
        <p:nvSpPr>
          <p:cNvPr id="109" name="Shape 107"/>
          <p:cNvSpPr/>
          <p:nvPr/>
        </p:nvSpPr>
        <p:spPr>
          <a:xfrm>
            <a:off x="1426464" y="3657600"/>
            <a:ext cx="1719072" cy="585216"/>
          </a:xfrm>
          <a:prstGeom prst="rect">
            <a:avLst/>
          </a:prstGeom>
          <a:solidFill>
            <a:srgbClr val="F5F7FA"/>
          </a:solidFill>
          <a:ln w="12700">
            <a:solidFill>
              <a:srgbClr val="FF8B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0" name="Text 108"/>
          <p:cNvSpPr/>
          <p:nvPr/>
        </p:nvSpPr>
        <p:spPr>
          <a:xfrm>
            <a:off x="1490472" y="3666744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Aura</a:t>
            </a:r>
            <a:endParaRPr lang="en-US" sz="900" dirty="0"/>
          </a:p>
        </p:txBody>
      </p:sp>
      <p:sp>
        <p:nvSpPr>
          <p:cNvPr id="111" name="Text 109"/>
          <p:cNvSpPr/>
          <p:nvPr/>
        </p:nvSpPr>
        <p:spPr>
          <a:xfrm>
            <a:off x="1490472" y="3867912"/>
            <a:ext cx="2926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</a:t>
            </a:r>
            <a:endParaRPr lang="en-US" sz="650" dirty="0"/>
          </a:p>
        </p:txBody>
      </p:sp>
      <p:sp>
        <p:nvSpPr>
          <p:cNvPr id="112" name="Text 110"/>
          <p:cNvSpPr/>
          <p:nvPr/>
        </p:nvSpPr>
        <p:spPr>
          <a:xfrm>
            <a:off x="1810512" y="3867912"/>
            <a:ext cx="2926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5/5</a:t>
            </a:r>
            <a:endParaRPr lang="en-US" sz="650" dirty="0"/>
          </a:p>
        </p:txBody>
      </p:sp>
      <p:sp>
        <p:nvSpPr>
          <p:cNvPr id="113" name="Text 111"/>
          <p:cNvSpPr/>
          <p:nvPr/>
        </p:nvSpPr>
        <p:spPr>
          <a:xfrm>
            <a:off x="1490472" y="4023360"/>
            <a:ext cx="15910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A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</a:t>
            </a:r>
            <a:endParaRPr lang="en-US" sz="700" dirty="0"/>
          </a:p>
        </p:txBody>
      </p:sp>
      <p:sp>
        <p:nvSpPr>
          <p:cNvPr id="114" name="Shape 112"/>
          <p:cNvSpPr/>
          <p:nvPr/>
        </p:nvSpPr>
        <p:spPr>
          <a:xfrm>
            <a:off x="3200400" y="3657600"/>
            <a:ext cx="171907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5" name="Text 113"/>
          <p:cNvSpPr/>
          <p:nvPr/>
        </p:nvSpPr>
        <p:spPr>
          <a:xfrm>
            <a:off x="3264408" y="3666744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Neptune</a:t>
            </a:r>
            <a:endParaRPr lang="en-US" sz="900" dirty="0"/>
          </a:p>
        </p:txBody>
      </p:sp>
      <p:sp>
        <p:nvSpPr>
          <p:cNvPr id="116" name="Text 114"/>
          <p:cNvSpPr/>
          <p:nvPr/>
        </p:nvSpPr>
        <p:spPr>
          <a:xfrm>
            <a:off x="3264408" y="3867912"/>
            <a:ext cx="2926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4/5</a:t>
            </a:r>
            <a:endParaRPr lang="en-US" sz="650" dirty="0"/>
          </a:p>
        </p:txBody>
      </p:sp>
      <p:sp>
        <p:nvSpPr>
          <p:cNvPr id="117" name="Text 115"/>
          <p:cNvSpPr/>
          <p:nvPr/>
        </p:nvSpPr>
        <p:spPr>
          <a:xfrm>
            <a:off x="3264408" y="4023360"/>
            <a:ext cx="15910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A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700" dirty="0"/>
          </a:p>
        </p:txBody>
      </p:sp>
      <p:sp>
        <p:nvSpPr>
          <p:cNvPr id="118" name="Shape 116"/>
          <p:cNvSpPr/>
          <p:nvPr/>
        </p:nvSpPr>
        <p:spPr>
          <a:xfrm>
            <a:off x="4974336" y="3657600"/>
            <a:ext cx="171907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9" name="Text 117"/>
          <p:cNvSpPr/>
          <p:nvPr/>
        </p:nvSpPr>
        <p:spPr>
          <a:xfrm>
            <a:off x="5038344" y="3666744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SPARQL Endpoint</a:t>
            </a:r>
            <a:endParaRPr lang="en-US" sz="900" dirty="0"/>
          </a:p>
        </p:txBody>
      </p:sp>
      <p:sp>
        <p:nvSpPr>
          <p:cNvPr id="120" name="Text 118"/>
          <p:cNvSpPr/>
          <p:nvPr/>
        </p:nvSpPr>
        <p:spPr>
          <a:xfrm>
            <a:off x="5038344" y="3867912"/>
            <a:ext cx="2926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</a:t>
            </a:r>
            <a:endParaRPr lang="en-US" sz="650" dirty="0"/>
          </a:p>
        </p:txBody>
      </p:sp>
      <p:sp>
        <p:nvSpPr>
          <p:cNvPr id="121" name="Text 119"/>
          <p:cNvSpPr/>
          <p:nvPr/>
        </p:nvSpPr>
        <p:spPr>
          <a:xfrm>
            <a:off x="5358384" y="3867912"/>
            <a:ext cx="2926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5/5</a:t>
            </a:r>
            <a:endParaRPr lang="en-US" sz="650" dirty="0"/>
          </a:p>
        </p:txBody>
      </p:sp>
      <p:sp>
        <p:nvSpPr>
          <p:cNvPr id="122" name="Text 120"/>
          <p:cNvSpPr/>
          <p:nvPr/>
        </p:nvSpPr>
        <p:spPr>
          <a:xfrm>
            <a:off x="5038344" y="4023360"/>
            <a:ext cx="15910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A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W3C Standard</a:t>
            </a:r>
            <a:endParaRPr lang="en-US" sz="700" dirty="0"/>
          </a:p>
        </p:txBody>
      </p:sp>
      <p:sp>
        <p:nvSpPr>
          <p:cNvPr id="123" name="Shape 121"/>
          <p:cNvSpPr/>
          <p:nvPr/>
        </p:nvSpPr>
        <p:spPr>
          <a:xfrm>
            <a:off x="6748272" y="3657600"/>
            <a:ext cx="1719072" cy="585216"/>
          </a:xfrm>
          <a:prstGeom prst="rect">
            <a:avLst/>
          </a:prstGeom>
          <a:solidFill>
            <a:srgbClr val="F5F7FA"/>
          </a:solidFill>
          <a:ln w="12700">
            <a:solidFill>
              <a:srgbClr val="FF8B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4" name="Text 122"/>
          <p:cNvSpPr/>
          <p:nvPr/>
        </p:nvSpPr>
        <p:spPr>
          <a:xfrm>
            <a:off x="6812280" y="3666744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PoC UI</a:t>
            </a:r>
            <a:endParaRPr lang="en-US" sz="900" dirty="0"/>
          </a:p>
        </p:txBody>
      </p:sp>
      <p:sp>
        <p:nvSpPr>
          <p:cNvPr id="125" name="Text 123"/>
          <p:cNvSpPr/>
          <p:nvPr/>
        </p:nvSpPr>
        <p:spPr>
          <a:xfrm>
            <a:off x="6812280" y="3867912"/>
            <a:ext cx="2926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</a:t>
            </a:r>
            <a:endParaRPr lang="en-US" sz="650" dirty="0"/>
          </a:p>
        </p:txBody>
      </p:sp>
      <p:sp>
        <p:nvSpPr>
          <p:cNvPr id="126" name="Text 124"/>
          <p:cNvSpPr/>
          <p:nvPr/>
        </p:nvSpPr>
        <p:spPr>
          <a:xfrm>
            <a:off x="7132320" y="3867912"/>
            <a:ext cx="2926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5/5</a:t>
            </a:r>
            <a:endParaRPr lang="en-US" sz="650" dirty="0"/>
          </a:p>
        </p:txBody>
      </p:sp>
      <p:sp>
        <p:nvSpPr>
          <p:cNvPr id="127" name="Text 125"/>
          <p:cNvSpPr/>
          <p:nvPr/>
        </p:nvSpPr>
        <p:spPr>
          <a:xfrm>
            <a:off x="6812280" y="4023360"/>
            <a:ext cx="15910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A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NTT DATA</a:t>
            </a:r>
            <a:endParaRPr lang="en-US" sz="700" dirty="0"/>
          </a:p>
        </p:txBody>
      </p:sp>
      <p:sp>
        <p:nvSpPr>
          <p:cNvPr id="128" name="Shape 126"/>
          <p:cNvSpPr/>
          <p:nvPr/>
        </p:nvSpPr>
        <p:spPr>
          <a:xfrm>
            <a:off x="256032" y="4279392"/>
            <a:ext cx="1097280" cy="658368"/>
          </a:xfrm>
          <a:prstGeom prst="rect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256032" y="427939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</a:t>
            </a:r>
            <a:endParaRPr lang="en-US" sz="1400" dirty="0"/>
          </a:p>
        </p:txBody>
      </p:sp>
      <p:sp>
        <p:nvSpPr>
          <p:cNvPr id="130" name="Text 128"/>
          <p:cNvSpPr/>
          <p:nvPr/>
        </p:nvSpPr>
        <p:spPr>
          <a:xfrm>
            <a:off x="256032" y="4626864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and compliance</a:t>
            </a:r>
            <a:endParaRPr lang="en-US" sz="700" dirty="0"/>
          </a:p>
        </p:txBody>
      </p:sp>
      <p:sp>
        <p:nvSpPr>
          <p:cNvPr id="131" name="Shape 129"/>
          <p:cNvSpPr/>
          <p:nvPr/>
        </p:nvSpPr>
        <p:spPr>
          <a:xfrm>
            <a:off x="1426464" y="4315968"/>
            <a:ext cx="1719072" cy="585216"/>
          </a:xfrm>
          <a:prstGeom prst="rect">
            <a:avLst/>
          </a:prstGeom>
          <a:solidFill>
            <a:srgbClr val="F5F7FA"/>
          </a:solidFill>
          <a:ln w="12700">
            <a:solidFill>
              <a:srgbClr val="0087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2" name="Text 130"/>
          <p:cNvSpPr/>
          <p:nvPr/>
        </p:nvSpPr>
        <p:spPr>
          <a:xfrm>
            <a:off x="1490472" y="4325112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ACORD Data Model</a:t>
            </a:r>
            <a:endParaRPr lang="en-US" sz="900" dirty="0"/>
          </a:p>
        </p:txBody>
      </p:sp>
      <p:sp>
        <p:nvSpPr>
          <p:cNvPr id="133" name="Text 131"/>
          <p:cNvSpPr/>
          <p:nvPr/>
        </p:nvSpPr>
        <p:spPr>
          <a:xfrm>
            <a:off x="1490472" y="4526280"/>
            <a:ext cx="2926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</a:t>
            </a:r>
            <a:endParaRPr lang="en-US" sz="650" dirty="0"/>
          </a:p>
        </p:txBody>
      </p:sp>
      <p:sp>
        <p:nvSpPr>
          <p:cNvPr id="134" name="Text 132"/>
          <p:cNvSpPr/>
          <p:nvPr/>
        </p:nvSpPr>
        <p:spPr>
          <a:xfrm>
            <a:off x="1810512" y="4526280"/>
            <a:ext cx="2926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5/5</a:t>
            </a:r>
            <a:endParaRPr lang="en-US" sz="650" dirty="0"/>
          </a:p>
        </p:txBody>
      </p:sp>
      <p:sp>
        <p:nvSpPr>
          <p:cNvPr id="135" name="Text 133"/>
          <p:cNvSpPr/>
          <p:nvPr/>
        </p:nvSpPr>
        <p:spPr>
          <a:xfrm>
            <a:off x="1490472" y="4681728"/>
            <a:ext cx="15910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A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ACORD</a:t>
            </a:r>
            <a:endParaRPr lang="en-US" sz="700" dirty="0"/>
          </a:p>
        </p:txBody>
      </p:sp>
      <p:sp>
        <p:nvSpPr>
          <p:cNvPr id="136" name="Shape 134"/>
          <p:cNvSpPr/>
          <p:nvPr/>
        </p:nvSpPr>
        <p:spPr>
          <a:xfrm>
            <a:off x="3200400" y="4315968"/>
            <a:ext cx="171907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7" name="Text 135"/>
          <p:cNvSpPr/>
          <p:nvPr/>
        </p:nvSpPr>
        <p:spPr>
          <a:xfrm>
            <a:off x="3264408" y="4325112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Collibra</a:t>
            </a:r>
            <a:endParaRPr lang="en-US" sz="900" dirty="0"/>
          </a:p>
        </p:txBody>
      </p:sp>
      <p:sp>
        <p:nvSpPr>
          <p:cNvPr id="138" name="Text 136"/>
          <p:cNvSpPr/>
          <p:nvPr/>
        </p:nvSpPr>
        <p:spPr>
          <a:xfrm>
            <a:off x="3264408" y="4526280"/>
            <a:ext cx="2926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3/5</a:t>
            </a:r>
            <a:endParaRPr lang="en-US" sz="650" dirty="0"/>
          </a:p>
        </p:txBody>
      </p:sp>
      <p:sp>
        <p:nvSpPr>
          <p:cNvPr id="139" name="Text 137"/>
          <p:cNvSpPr/>
          <p:nvPr/>
        </p:nvSpPr>
        <p:spPr>
          <a:xfrm>
            <a:off x="3264408" y="4681728"/>
            <a:ext cx="15910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A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Collibra</a:t>
            </a:r>
            <a:endParaRPr lang="en-US" sz="700" dirty="0"/>
          </a:p>
        </p:txBody>
      </p:sp>
      <p:sp>
        <p:nvSpPr>
          <p:cNvPr id="140" name="Shape 138"/>
          <p:cNvSpPr/>
          <p:nvPr/>
        </p:nvSpPr>
        <p:spPr>
          <a:xfrm>
            <a:off x="4974336" y="4315968"/>
            <a:ext cx="171907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1" name="Text 139"/>
          <p:cNvSpPr/>
          <p:nvPr/>
        </p:nvSpPr>
        <p:spPr>
          <a:xfrm>
            <a:off x="5038344" y="4325112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Informatica IDMC</a:t>
            </a:r>
            <a:endParaRPr lang="en-US" sz="900" dirty="0"/>
          </a:p>
        </p:txBody>
      </p:sp>
      <p:sp>
        <p:nvSpPr>
          <p:cNvPr id="142" name="Text 140"/>
          <p:cNvSpPr/>
          <p:nvPr/>
        </p:nvSpPr>
        <p:spPr>
          <a:xfrm>
            <a:off x="5038344" y="4526280"/>
            <a:ext cx="2926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3/5</a:t>
            </a:r>
            <a:endParaRPr lang="en-US" sz="650" dirty="0"/>
          </a:p>
        </p:txBody>
      </p:sp>
      <p:sp>
        <p:nvSpPr>
          <p:cNvPr id="143" name="Text 141"/>
          <p:cNvSpPr/>
          <p:nvPr/>
        </p:nvSpPr>
        <p:spPr>
          <a:xfrm>
            <a:off x="5038344" y="4681728"/>
            <a:ext cx="15910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A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Informatica</a:t>
            </a:r>
            <a:endParaRPr lang="en-US" sz="700" dirty="0"/>
          </a:p>
        </p:txBody>
      </p:sp>
      <p:sp>
        <p:nvSpPr>
          <p:cNvPr id="144" name="Shape 142"/>
          <p:cNvSpPr/>
          <p:nvPr/>
        </p:nvSpPr>
        <p:spPr>
          <a:xfrm>
            <a:off x="8375904" y="1170432"/>
            <a:ext cx="512064" cy="3767328"/>
          </a:xfrm>
          <a:prstGeom prst="rect">
            <a:avLst/>
          </a:prstGeom>
          <a:solidFill>
            <a:srgbClr val="F0F2F5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8394192" y="1243584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</a:t>
            </a:r>
            <a:endParaRPr lang="en-US" sz="650" dirty="0"/>
          </a:p>
        </p:txBody>
      </p:sp>
      <p:sp>
        <p:nvSpPr>
          <p:cNvPr id="146" name="Text 144"/>
          <p:cNvSpPr/>
          <p:nvPr/>
        </p:nvSpPr>
        <p:spPr>
          <a:xfrm>
            <a:off x="8394192" y="144475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NTT DATA recommended for production</a:t>
            </a:r>
            <a:endParaRPr lang="en-US" sz="600" dirty="0"/>
          </a:p>
        </p:txBody>
      </p:sp>
      <p:sp>
        <p:nvSpPr>
          <p:cNvPr id="147" name="Text 145"/>
          <p:cNvSpPr/>
          <p:nvPr/>
        </p:nvSpPr>
        <p:spPr>
          <a:xfrm>
            <a:off x="8394192" y="1993392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</a:t>
            </a:r>
            <a:endParaRPr lang="en-US" sz="650" dirty="0"/>
          </a:p>
        </p:txBody>
      </p:sp>
      <p:sp>
        <p:nvSpPr>
          <p:cNvPr id="148" name="Text 146"/>
          <p:cNvSpPr/>
          <p:nvPr/>
        </p:nvSpPr>
        <p:spPr>
          <a:xfrm>
            <a:off x="8394192" y="21945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Open source, no licence cost</a:t>
            </a:r>
            <a:endParaRPr lang="en-US" sz="600" dirty="0"/>
          </a:p>
        </p:txBody>
      </p:sp>
      <p:sp>
        <p:nvSpPr>
          <p:cNvPr id="149" name="Text 147"/>
          <p:cNvSpPr/>
          <p:nvPr/>
        </p:nvSpPr>
        <p:spPr>
          <a:xfrm>
            <a:off x="8394192" y="2743200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X/5</a:t>
            </a:r>
            <a:endParaRPr lang="en-US" sz="650" dirty="0"/>
          </a:p>
        </p:txBody>
      </p:sp>
      <p:sp>
        <p:nvSpPr>
          <p:cNvPr id="150" name="Text 148"/>
          <p:cNvSpPr/>
          <p:nvPr/>
        </p:nvSpPr>
        <p:spPr>
          <a:xfrm>
            <a:off x="8394192" y="294436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GW migration fit score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6554C0"/>
          </a:solidFill>
          <a:ln w="12700">
            <a:solidFill>
              <a:srgbClr val="6554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7498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NTT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24128" y="91440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" y="548640"/>
            <a:ext cx="1572768" cy="64008"/>
          </a:xfrm>
          <a:prstGeom prst="rect">
            <a:avLst/>
          </a:prstGeom>
          <a:solidFill>
            <a:srgbClr val="E4002B"/>
          </a:solidFill>
          <a:ln w="12700">
            <a:solidFill>
              <a:srgbClr val="E400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0" y="91440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POOLPARTY IN ARCHITECTURE -- Dual-Layer Recommended Design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74320" y="822960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PoolParty and Neo4j play complementary roles. PoolParty is the long-term governed ontology asset. Neo4j is the fast developer-facing query layer that powers the AI pipeline and this dashboard. They sync via PoolParty's RDF export.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" y="1225296"/>
            <a:ext cx="4224528" cy="3639312"/>
          </a:xfrm>
          <a:prstGeom prst="rect">
            <a:avLst/>
          </a:prstGeom>
          <a:solidFill>
            <a:srgbClr val="FFFFFF"/>
          </a:solidFill>
          <a:ln w="12700">
            <a:solidFill>
              <a:srgbClr val="6554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" y="1225296"/>
            <a:ext cx="4224528" cy="402336"/>
          </a:xfrm>
          <a:prstGeom prst="rect">
            <a:avLst/>
          </a:prstGeom>
          <a:solidFill>
            <a:srgbClr val="6554C0"/>
          </a:solidFill>
          <a:ln w="12700">
            <a:solidFill>
              <a:srgbClr val="6554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225296"/>
            <a:ext cx="40416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PoolParty -- Master Ontology Store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" y="1682496"/>
            <a:ext cx="4041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55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Governed, versioned, business-accessible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47472" y="1938528"/>
            <a:ext cx="40416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A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/ MANAGES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2121408"/>
            <a:ext cx="4041648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ontology (OWL class hierarchy)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APD product configuration (SKOS)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ACORD term linking (Linked Data)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decision log (provenance)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TypeKey extension catalogue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jurisdiction rules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47472" y="2962656"/>
            <a:ext cx="40416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A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47472" y="3145536"/>
            <a:ext cx="40416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Review Board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SMEs and data owners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auditors / regulators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PAS migration teams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47472" y="3749040"/>
            <a:ext cx="40416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A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47472" y="3931920"/>
            <a:ext cx="4041648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RDF/OWL/SKOS native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SPARQL endpoint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+ webhooks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on ontology changes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mining over Gosu/APD docs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663440" y="1225296"/>
            <a:ext cx="4224528" cy="36393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1225296"/>
            <a:ext cx="4224528" cy="402336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225296"/>
            <a:ext cx="40416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-- Operational Query Layer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1682496"/>
            <a:ext cx="4041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developer-friendly, AI pipeline fuel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54880" y="1938528"/>
            <a:ext cx="40416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A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/ MANAGES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754880" y="2121408"/>
            <a:ext cx="4041648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graph (synced from PoolParty)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issue tracking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mapping status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effort estimates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traversal queries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 data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54880" y="2962656"/>
            <a:ext cx="40416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A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754880" y="3145536"/>
            <a:ext cx="40416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engineers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 pipeline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LlamaIndex RAG layer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/ CI/CD pipeline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54880" y="3749040"/>
            <a:ext cx="40416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A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754880" y="3931920"/>
            <a:ext cx="4041648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graph (LPG)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Cypher queries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Aura managed cloud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vector index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Data Science library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+ Bolt drivers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480560" y="2560320"/>
            <a:ext cx="182880" cy="0"/>
          </a:xfrm>
          <a:prstGeom prst="line">
            <a:avLst/>
          </a:prstGeom>
          <a:noFill/>
          <a:ln w="19050">
            <a:solidFill>
              <a:srgbClr val="6554C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4206240" y="2359152"/>
            <a:ext cx="658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55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RDF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655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480560" y="2926080"/>
            <a:ext cx="182880" cy="0"/>
          </a:xfrm>
          <a:prstGeom prst="line">
            <a:avLst/>
          </a:prstGeom>
          <a:noFill/>
          <a:ln w="19050">
            <a:solidFill>
              <a:srgbClr val="003087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4206240" y="2798064"/>
            <a:ext cx="658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56032" y="4919472"/>
            <a:ext cx="8631936" cy="274320"/>
          </a:xfrm>
          <a:prstGeom prst="rect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" y="4919472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ACORD DATA MODEL -- Neutral bridge layer. Map GW on-prem entities to ACORD, then ACORD to GW Cloud OR Majesco OR EIS OR Socotra. One semantic layer, any migration target.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NTT DATA - GW AI Semantic Layer - Tool Landscape</dc:title>
  <dc:subject>PptxGenJS Presentation</dc:subject>
  <dc:creator>PptxGenJS</dc:creator>
  <cp:lastModifiedBy>PptxGenJS</cp:lastModifiedBy>
  <cp:revision>1</cp:revision>
  <dcterms:created xsi:type="dcterms:W3CDTF">2026-03-24T21:37:10Z</dcterms:created>
  <dcterms:modified xsi:type="dcterms:W3CDTF">2026-03-24T21:37:10Z</dcterms:modified>
</cp:coreProperties>
</file>