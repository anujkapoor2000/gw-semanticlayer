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067B1">
              <a:alpha val="16000"/>
            </a:srgbClr>
          </a:solidFill>
          <a:ln w="12700">
            <a:solidFill>
              <a:srgbClr val="0067B1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3657600" cy="3657600"/>
          </a:xfrm>
          <a:prstGeom prst="ellipse">
            <a:avLst/>
          </a:prstGeom>
          <a:solidFill>
            <a:srgbClr val="1A2F5A">
              <a:alpha val="40000"/>
            </a:srgbClr>
          </a:solidFill>
          <a:ln w="12700">
            <a:solidFill>
              <a:srgbClr val="1A2F5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NTT DATA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3200400" cy="82296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GUIDEWIRE CLOUD MIGRATION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Semantic Layer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on-premise PolicyCenter ontology -- schema DDL + APD product config -- and generate the complete migration complexity map before writing a single line of Cloud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1554480" cy="420624"/>
          </a:xfrm>
          <a:prstGeom prst="rect">
            <a:avLst/>
          </a:prstGeom>
          <a:solidFill>
            <a:srgbClr val="1A2F5A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9923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DDL Ingestion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2999232"/>
            <a:ext cx="1554480" cy="420624"/>
          </a:xfrm>
          <a:prstGeom prst="rect">
            <a:avLst/>
          </a:prstGeom>
          <a:solidFill>
            <a:srgbClr val="1A2F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99923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Ontology Mapping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2999232"/>
            <a:ext cx="1554480" cy="420624"/>
          </a:xfrm>
          <a:prstGeom prst="rect">
            <a:avLst/>
          </a:prstGeom>
          <a:solidFill>
            <a:srgbClr val="1A2F5A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99923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Graph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999232"/>
            <a:ext cx="1554480" cy="420624"/>
          </a:xfrm>
          <a:prstGeom prst="rect">
            <a:avLst/>
          </a:prstGeom>
          <a:solidFill>
            <a:srgbClr val="1A2F5A"/>
          </a:solidFill>
          <a:ln w="12700">
            <a:solidFill>
              <a:srgbClr val="FF8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99923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Gap Analysis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78040" y="2999232"/>
            <a:ext cx="1554480" cy="420624"/>
          </a:xfrm>
          <a:prstGeom prst="rect">
            <a:avLst/>
          </a:prstGeom>
          <a:solidFill>
            <a:srgbClr val="1A2F5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99923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Field Mapping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566160"/>
            <a:ext cx="8366760" cy="987552"/>
          </a:xfrm>
          <a:prstGeom prst="rect">
            <a:avLst/>
          </a:prstGeom>
          <a:solidFill>
            <a:srgbClr val="0D1525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210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PoC shows: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849624"/>
            <a:ext cx="8001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Line of Business (HO-3, Personal Auto, Commercial Auto). Watch the 5-phase AI analysis pipeline simulate parsing your on-premise GW schema DDL and APD product config. The semantic layer produces: a coverage ontology map, entity relationship graph, migration risk score, issue-by-issue gap analysis (CRITICAL/HIGH/MEDIUM), and a field-by-field cloud mapping report showing Mapped, Partial, and Gap status for every custom extension. Assumes access to GW schema DDL export and APD XML configuration files.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914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572768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-- Why GW On-Premise to Cloud Migrations Stall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276148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41248"/>
            <a:ext cx="2761488" cy="4937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41248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mapped the APD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389888"/>
            <a:ext cx="2578608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product XML grew organically over 10+ years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person understands all coverage groups, jurisdictions, and CovTerm patterns across all LOBs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 team starts from scratch every sprint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discovery work repeated 5-6 times -- once per LOB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63824" y="841248"/>
            <a:ext cx="276148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841248"/>
            <a:ext cx="2761488" cy="493776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841248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extensions are invisible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55264" y="1389888"/>
            <a:ext cx="2578608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Gosu entity extensions scattered across 50+ files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inventory of which fields have Cloud equivalents vs which are true gaps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discover breaking gaps during UAT -- not design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causes a 2-4 week delay to redesign the Cloud schema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71616" y="841248"/>
            <a:ext cx="276148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841248"/>
            <a:ext cx="2761488" cy="493776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841248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undocumented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389888"/>
            <a:ext cx="2578608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200-400 Gosu validation rules per LOB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reference custom fields that may not exist in Cloud schema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mapping from on-prem rule to Cloud equivalent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migration is typically 40% of total Cloud migration effort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4700016"/>
            <a:ext cx="8631936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27448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Cloud migrations go over budget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4727448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rediscovery = 30% of migration time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0" y="4727448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18 months for a full PolicyCenter migration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7840" y="4727448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effort is Gosu rule migration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0" y="4727448"/>
            <a:ext cx="1664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gaps found in UAT = 3x more expensive to fix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914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572768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-- AI Semantic Layer for GW On-Premise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8595360" cy="274320"/>
          </a:xfrm>
          <a:prstGeom prst="rect">
            <a:avLst/>
          </a:prstGeom>
          <a:solidFill>
            <a:srgbClr val="1A2F5A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22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-- What the Semantic Layer reads from your on-premise GW installation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133856"/>
            <a:ext cx="1627632" cy="658368"/>
          </a:xfrm>
          <a:prstGeom prst="rect">
            <a:avLst/>
          </a:prstGeom>
          <a:solidFill>
            <a:srgbClr val="1A2F5A"/>
          </a:solidFill>
          <a:ln w="12700">
            <a:solidFill>
              <a:srgbClr val="00A3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1338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DDL Export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(GW database schema)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1133856"/>
            <a:ext cx="1627632" cy="658368"/>
          </a:xfrm>
          <a:prstGeom prst="rect">
            <a:avLst/>
          </a:prstGeom>
          <a:solidFill>
            <a:srgbClr val="1A2F5A"/>
          </a:solidFill>
          <a:ln w="12700">
            <a:solidFill>
              <a:srgbClr val="0067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93392" y="11338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Product XML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(Coverage config per LOB)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12464" y="1133856"/>
            <a:ext cx="1627632" cy="658368"/>
          </a:xfrm>
          <a:prstGeom prst="rect">
            <a:avLst/>
          </a:prstGeom>
          <a:solidFill>
            <a:srgbClr val="1A2F5A"/>
          </a:solidFill>
          <a:ln w="12700">
            <a:solidFill>
              <a:srgbClr val="655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11338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Gosu Rule Files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(Validation plugins)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31536" y="1133856"/>
            <a:ext cx="1627632" cy="658368"/>
          </a:xfrm>
          <a:prstGeom prst="rect">
            <a:avLst/>
          </a:prstGeom>
          <a:solidFill>
            <a:srgbClr val="1A2F5A"/>
          </a:solidFill>
          <a:ln w="12700">
            <a:solidFill>
              <a:srgbClr val="FF8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31536" y="11338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Tables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(Rating algorithm data)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50608" y="1133856"/>
            <a:ext cx="1627632" cy="658368"/>
          </a:xfrm>
          <a:prstGeom prst="rect">
            <a:avLst/>
          </a:prstGeom>
          <a:solidFill>
            <a:srgbClr val="1A2F5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0608" y="11338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TypeKey Extensions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type lists)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828800"/>
            <a:ext cx="0" cy="219456"/>
          </a:xfrm>
          <a:prstGeom prst="line">
            <a:avLst/>
          </a:prstGeom>
          <a:noFill/>
          <a:ln w="25400">
            <a:solidFill>
              <a:srgbClr val="0087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084832"/>
            <a:ext cx="8595360" cy="274320"/>
          </a:xfrm>
          <a:prstGeom prst="rect">
            <a:avLst/>
          </a:prstGeom>
          <a:solidFill>
            <a:srgbClr val="1A2F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0848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-- Claude Sonnet + Ontology Graph + Embedding Models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95728"/>
            <a:ext cx="2029968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239572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Parser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(DDL to graph)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50592" y="2395728"/>
            <a:ext cx="2029968" cy="65836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50592" y="239572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Ontology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26864" y="2395728"/>
            <a:ext cx="2029968" cy="658368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26864" y="239572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 AI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03136" y="2395728"/>
            <a:ext cx="2029968" cy="658368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03136" y="2395728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3081528"/>
            <a:ext cx="0" cy="219456"/>
          </a:xfrm>
          <a:prstGeom prst="line">
            <a:avLst/>
          </a:prstGeom>
          <a:noFill/>
          <a:ln w="25400">
            <a:solidFill>
              <a:srgbClr val="FF8B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337560"/>
            <a:ext cx="8595360" cy="274320"/>
          </a:xfrm>
          <a:prstGeom prst="rect">
            <a:avLst/>
          </a:prstGeom>
          <a:solidFill>
            <a:srgbClr val="1A2F5A"/>
          </a:solidFill>
          <a:ln w="12700">
            <a:solidFill>
              <a:srgbClr val="FF8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337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-- Migration Intelligence Delivered to Your Team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48456"/>
            <a:ext cx="1627632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36484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Map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93392" y="3648456"/>
            <a:ext cx="1627632" cy="658368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993392" y="36484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Graph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12464" y="3648456"/>
            <a:ext cx="162763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712464" y="36484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Risk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per LOB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31536" y="3648456"/>
            <a:ext cx="1627632" cy="65836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31536" y="36484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Field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Report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50608" y="3648456"/>
            <a:ext cx="1627632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50608" y="3648456"/>
            <a:ext cx="16276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Effort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416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Layer runs BEFORE migration planning starts -- it tells you exactly what you have, what maps cleanly, what needs redesign, and how many sprints each LOB will take. You enter the Cloud project knowing every gap.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914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572768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DEEP DIVE -- HO-3 Homeowners Ontology Analysis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863193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886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HO-3 MIGRATION RISK: 68 / 100 -- HIGH COMPLEXITY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886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1338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Entities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779008" y="886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87568" y="11338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28816" y="886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7376" y="11338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Tables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278624" y="886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87184" y="11338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Extensions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028432" y="886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36992" y="11338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Groups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1901952"/>
            <a:ext cx="411480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1901952"/>
            <a:ext cx="4114800" cy="329184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9019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MAP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63040" y="2395728"/>
            <a:ext cx="1371600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463040" y="23957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PolicyPeriod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2999232"/>
            <a:ext cx="13716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" y="2999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HOLocation_HOE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68880" y="2999232"/>
            <a:ext cx="1371600" cy="347472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468880" y="2999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DwellingCov_HOE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3730752"/>
            <a:ext cx="13716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37307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HOERatingEngine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730752"/>
            <a:ext cx="1371600" cy="347472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468880" y="37307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ValidationPlugin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463040" y="4462272"/>
            <a:ext cx="13716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4462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HOEForms_HOE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91640" y="2743200"/>
            <a:ext cx="0" cy="256032"/>
          </a:xfrm>
          <a:prstGeom prst="line">
            <a:avLst/>
          </a:prstGeom>
          <a:noFill/>
          <a:ln w="12700">
            <a:solidFill>
              <a:srgbClr val="9AAA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48840" y="3172968"/>
            <a:ext cx="320040" cy="0"/>
          </a:xfrm>
          <a:prstGeom prst="line">
            <a:avLst/>
          </a:prstGeom>
          <a:noFill/>
          <a:ln w="12700">
            <a:solidFill>
              <a:srgbClr val="9AAA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54680" y="3346704"/>
            <a:ext cx="0" cy="384048"/>
          </a:xfrm>
          <a:prstGeom prst="line">
            <a:avLst/>
          </a:prstGeom>
          <a:noFill/>
          <a:ln w="12700">
            <a:solidFill>
              <a:srgbClr val="9AAA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48840" y="3904488"/>
            <a:ext cx="320040" cy="0"/>
          </a:xfrm>
          <a:prstGeom prst="line">
            <a:avLst/>
          </a:prstGeom>
          <a:noFill/>
          <a:ln w="12700">
            <a:solidFill>
              <a:srgbClr val="9AAA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91640" y="4572000"/>
            <a:ext cx="0" cy="237744"/>
          </a:xfrm>
          <a:prstGeom prst="line">
            <a:avLst/>
          </a:prstGeom>
          <a:noFill/>
          <a:ln w="12700">
            <a:solidFill>
              <a:srgbClr val="9AAA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" y="3346704"/>
            <a:ext cx="0" cy="384048"/>
          </a:xfrm>
          <a:prstGeom prst="line">
            <a:avLst/>
          </a:prstGeom>
          <a:noFill/>
          <a:ln w="12700">
            <a:solidFill>
              <a:srgbClr val="9AAA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17136" y="1901952"/>
            <a:ext cx="4370832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17136" y="1901952"/>
            <a:ext cx="4370832" cy="329184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8576" y="1901952"/>
            <a:ext cx="4187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ISSUES DETECTED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08576" y="2304288"/>
            <a:ext cx="4187952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45152" y="23042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03520" y="23042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Rating Engine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601968" y="23042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custom rate tables not in GW Cloud framework -- rebuild required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608576" y="2816352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45152" y="28163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03520" y="28163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Entity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601968" y="281635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14 custom fields have no Cloud equivalent (WildFire, Sinkhole etc)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608576" y="3328416"/>
            <a:ext cx="4187952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45152" y="33284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03520" y="33284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601968" y="3328416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of 127 rules reference custom fields absent in Cloud schema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608576" y="3840480"/>
            <a:ext cx="41879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45152" y="3840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0352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Coverage Caps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601968" y="38404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FL/TX/CA caps hardcoded in Gosu -- must migrate to Cloud config tables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608576" y="4352544"/>
            <a:ext cx="4187952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45152" y="43525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303520" y="435254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State Forms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601968" y="435254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endorsement forms need manual mapping in GW Cloud Forms Manager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914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572768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MAPPING -- On-Premise to GW Cloud Field Analysis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841248"/>
            <a:ext cx="15544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778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31673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Mapped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841248"/>
            <a:ext cx="15544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8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8778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86000" y="131673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Mapping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841248"/>
            <a:ext cx="15544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00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0" y="8778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14800" y="131673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-- New Design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841248"/>
            <a:ext cx="15544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8778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31673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1901952"/>
            <a:ext cx="8631936" cy="34747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901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Entity / Field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90672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Cloud Target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1901952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25312" y="19019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286000"/>
            <a:ext cx="8631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DwellingCov_HOE.StateCapOverride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90672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CovTermPattern.MaxValue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38928" y="228600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25312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parameter mapping -- full equivalence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6032" y="2624328"/>
            <a:ext cx="8631936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624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PolicyPeriod.FloodZoneCode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090672" y="2624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PolicyPeriod.FloodZone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138928" y="262432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25312" y="26243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only -- data migrates as-is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6032" y="2962656"/>
            <a:ext cx="8631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9626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HOLocation_HOE.WildFireScore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090672" y="29626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LocationEnrichment.WildfireRisk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38928" y="2962656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25312" y="29626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GW Cloud Enrichment API -- data mapping required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6032" y="3300984"/>
            <a:ext cx="8631936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3009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HOLocation_HOE.CoastalWindZone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090672" y="3300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-- External API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138928" y="3300984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25312" y="33009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AIR/RMS wind zone API into Cloud enrichment layer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6032" y="3639312"/>
            <a:ext cx="8631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HOLocation_HOE.SinkholeRiskFL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090672" y="36393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-- Not in GW Cloud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138928" y="3639312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25312" y="36393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sinkhole data not available -- integrate CoreLogic Sinkhole API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6032" y="3977640"/>
            <a:ext cx="8631936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HOERatingEngine (custom)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090672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CloudRate / External Rating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138928" y="397764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25312" y="3977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rebuild: ISO base + 22 state tables in Cloud rating framework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56032" y="4315968"/>
            <a:ext cx="863193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315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PolicyValidationPlugin.gs (42 rules)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090672" y="43159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ValidationPlugin (Cloud)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138928" y="4315968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25312" y="4315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of 127 rules need rewrite -- phased migration over 3 sprints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6032" y="4654296"/>
            <a:ext cx="8631936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6542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HOEForms_HOE.StateFormSelection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090672" y="46542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FormsManager.StateRules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138928" y="4654296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925312" y="46542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forms auto-migrate; 18 state endorsements need manual mapping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914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572768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PRODUCTIONALISE -- 5-Phase Semantic Layer Implementation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" y="841248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841248"/>
            <a:ext cx="1664208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85039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" y="10972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Ingestion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1517904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schema DDL parser (PostgreSQL/Oracle)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product XML parser across all LOBs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initial entity inventory with custom field count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complete entity catalogue per LOB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65376" y="1170432"/>
            <a:ext cx="91440" cy="0"/>
          </a:xfrm>
          <a:prstGeom prst="line">
            <a:avLst/>
          </a:prstGeom>
          <a:noFill/>
          <a:ln w="25400">
            <a:solidFill>
              <a:srgbClr val="0030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56816" y="841248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7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56816" y="841248"/>
            <a:ext cx="1664208" cy="640080"/>
          </a:xfrm>
          <a:prstGeom prst="rect">
            <a:avLst/>
          </a:prstGeom>
          <a:solidFill>
            <a:srgbClr val="0067B1"/>
          </a:solidFill>
          <a:ln w="12700">
            <a:solidFill>
              <a:srgbClr val="0067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56816" y="85039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3-4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56816" y="10972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Graph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29968" y="1554480"/>
            <a:ext cx="1517904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entity graph into Neo4j Aura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extracts relationships from Gosu rule files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coverage groups mapped as ontology nodes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interactive relationship map per LOB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21024" y="1170432"/>
            <a:ext cx="91440" cy="0"/>
          </a:xfrm>
          <a:prstGeom prst="line">
            <a:avLst/>
          </a:prstGeom>
          <a:noFill/>
          <a:ln w="25400">
            <a:solidFill>
              <a:srgbClr val="0067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841248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655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12464" y="841248"/>
            <a:ext cx="1664208" cy="640080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85039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5-6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12464" y="10972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85616" y="1554480"/>
            <a:ext cx="1517904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entity against GW Cloud schema spec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custom fields with no Cloud equivalent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migration complexity per LOB (0-100)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prioritised gap report for migration planning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76672" y="1170432"/>
            <a:ext cx="91440" cy="0"/>
          </a:xfrm>
          <a:prstGeom prst="line">
            <a:avLst/>
          </a:prstGeom>
          <a:noFill/>
          <a:ln w="25400">
            <a:solidFill>
              <a:srgbClr val="6554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68112" y="841248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7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68112" y="841248"/>
            <a:ext cx="1664208" cy="64008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8112" y="85039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7-8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68112" y="10972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Mapping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41264" y="1554480"/>
            <a:ext cx="1517904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Field-by-field mapping: on-prem to Cloud target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Gosu rule inventory with Cloud migration action per rule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table format analysis and Cloud compatibility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migration runbook per LOB with sprint estimates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1170432"/>
            <a:ext cx="91440" cy="0"/>
          </a:xfrm>
          <a:prstGeom prst="line">
            <a:avLst/>
          </a:prstGeom>
          <a:noFill/>
          <a:ln w="25400">
            <a:solidFill>
              <a:srgbClr val="0087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841248"/>
            <a:ext cx="1664208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841248"/>
            <a:ext cx="16642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85039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9-10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109728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96912" y="1554480"/>
            <a:ext cx="1517904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Bi-directional: maps to GW Cloud AND other PAS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semantic layer API for consuming systems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migration project management tooling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complete migration intelligence platform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" y="4828032"/>
            <a:ext cx="8741664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846320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Schema parsed wk 1-2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783080" y="4846320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Ontology graph wk 3-4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46120" y="4846320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Gap report wk 5-6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09160" y="4846320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Migration runbook wk 7-8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72200" y="4846320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Full platform wk 9-10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635240" y="4846320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Cuts migration risk by 60%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49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NTT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24128" y="9144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572768" cy="64008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9144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STACK -- GW AI Semantic Layer: PoC to Production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31596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68680"/>
            <a:ext cx="4315968" cy="38404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68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Ontology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39312" y="1280160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78224" y="1280160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508760"/>
            <a:ext cx="4151376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5087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150876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Gosu rule files and APD XML -- extracts entities, relationships, and migration risk commentary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39312" y="150876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78224" y="150876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1856232"/>
            <a:ext cx="415137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85623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1856232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full React PoC application and all 3 LOB ontology datasets autonomously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39312" y="185623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78224" y="185623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2203704"/>
            <a:ext cx="4151376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2037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Aura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220370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entity graph: nodes = GW entities, edges = relationships, properties = migration metadata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39312" y="220370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78224" y="220370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2551176"/>
            <a:ext cx="415137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5511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OpenAI/Cohere Embeddings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255117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search -- find equivalent Cloud entity given on-prem entity description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39312" y="25511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78224" y="25511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868680"/>
            <a:ext cx="431596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868680"/>
            <a:ext cx="4315968" cy="384048"/>
          </a:xfrm>
          <a:prstGeom prst="rect">
            <a:avLst/>
          </a:prstGeom>
          <a:solidFill>
            <a:srgbClr val="FF8B00"/>
          </a:solidFill>
          <a:ln w="12700">
            <a:solidFill>
              <a:srgbClr val="FF8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868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Ingestion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19872" y="1280160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58784" y="1280160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28032" y="1508760"/>
            <a:ext cx="4151376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15087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Schema DDL Parser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150876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PostgreSQL/Oracle DDL export from GW on-prem database -- extracts entities and custom fields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19872" y="150876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58784" y="150876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28032" y="1856232"/>
            <a:ext cx="415137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185623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APD XML Parser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1856232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APD product XML configuration -- extracts coverage groups, CovTerms, jurisdictions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119872" y="185623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58784" y="185623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28032" y="2203704"/>
            <a:ext cx="4151376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22037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Gosu AST Parser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09360" y="220370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validation rule Gosu files -- maps rule dependencies to entity fields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119872" y="220370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58784" y="220370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28032" y="2551176"/>
            <a:ext cx="415137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25511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JSON (PoC)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09360" y="255117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HO-3, PA, CA ontology data demonstrating full production output quality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119872" y="25511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558784" y="25511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" y="3044952"/>
            <a:ext cx="431596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320" y="3044952"/>
            <a:ext cx="4315968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30449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Target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639312" y="3456432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078224" y="3456432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47472" y="3685032"/>
            <a:ext cx="4151376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368503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Cloud Schema Spec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828800" y="3685032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Cloud entity catalogue used as the target for field-level mapping and gap detection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639312" y="368503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078224" y="368503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47472" y="4032504"/>
            <a:ext cx="415137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" y="40325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PAS Schema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828800" y="403250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PAS migration targets (e.g. EIS, Majesco, Socotra) -- semantic layer maps to any target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639312" y="403250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078224" y="403250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47472" y="4379976"/>
            <a:ext cx="4151376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4048" y="43799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(free tier)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828800" y="437997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React hosting for the PoC -- live in 5 minutes from a git push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639312" y="43799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078224" y="43799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47472" y="4727448"/>
            <a:ext cx="415137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4048" y="472744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Runbook API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828800" y="472744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exposes ontology data to migration project tools (Azure DevOps, Jira, Confluence)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639312" y="472744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4078224" y="472744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754880" y="3044952"/>
            <a:ext cx="431596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4754880" y="3044952"/>
            <a:ext cx="4315968" cy="384048"/>
          </a:xfrm>
          <a:prstGeom prst="rect">
            <a:avLst/>
          </a:prstGeom>
          <a:solidFill>
            <a:srgbClr val="6554C0"/>
          </a:solidFill>
          <a:ln w="12700">
            <a:solidFill>
              <a:srgbClr val="6554C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64608" y="304495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8119872" y="3456432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558784" y="3456432"/>
            <a:ext cx="438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828032" y="3685032"/>
            <a:ext cx="4151376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64608" y="368503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PoC Dashboard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309360" y="3685032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5-tab ontology explorer: Coverage Map, Entities, Relationships, Issues, Cloud Mapping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119872" y="368503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8558784" y="368503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4828032" y="4032504"/>
            <a:ext cx="415137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64608" y="40325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Integration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309360" y="4032504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Auto-publishes LOB migration report to Confluence for architecture review board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8119872" y="403250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8558784" y="403250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4828032" y="4379976"/>
            <a:ext cx="4151376" cy="31089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64608" y="437997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Epic Generator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09360" y="4379976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migration epics and stories from gap analysis -- pre-sized with sprint estimates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8119872" y="43799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558784" y="43799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4828032" y="4727448"/>
            <a:ext cx="415137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864608" y="472744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Heat Map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6309360" y="472744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view of all LOBs showing migration risk, gap count, and estimated cost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8119872" y="472744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8558784" y="472744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NTT DATA - GW AI Semantic Layer</dc:title>
  <dc:subject>PptxGenJS Presentation</dc:subject>
  <dc:creator>PptxGenJS</dc:creator>
  <cp:lastModifiedBy>PptxGenJS</cp:lastModifiedBy>
  <cp:revision>1</cp:revision>
  <dcterms:created xsi:type="dcterms:W3CDTF">2026-03-24T20:38:51Z</dcterms:created>
  <dcterms:modified xsi:type="dcterms:W3CDTF">2026-03-24T20:38:51Z</dcterms:modified>
</cp:coreProperties>
</file>